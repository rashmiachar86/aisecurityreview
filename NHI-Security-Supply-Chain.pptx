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6C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1501" y="0"/>
            <a:ext cx="50750" cy="514350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1056233"/>
            <a:ext cx="56733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INTELLIGENCE REPORT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1665833"/>
            <a:ext cx="5673397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40"/>
              </a:lnSpc>
              <a:spcBef>
                <a:spcPts val="3600"/>
              </a:spcBef>
              <a:spcAft>
                <a:spcPts val="8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Non-Human Identity (NHI)</a:t>
            </a:r>
            <a:endParaRPr lang="en-US" sz="3600" dirty="0"/>
          </a:p>
          <a:p>
            <a:pPr algn="l" indent="0" marL="0">
              <a:lnSpc>
                <a:spcPts val="4140"/>
              </a:lnSpc>
              <a:spcBef>
                <a:spcPts val="3600"/>
              </a:spcBef>
              <a:spcAft>
                <a:spcPts val="8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Threats in</a:t>
            </a:r>
            <a:endParaRPr lang="en-US" sz="3600" dirty="0"/>
          </a:p>
          <a:p>
            <a:pPr algn="l" indent="0" marL="0">
              <a:lnSpc>
                <a:spcPts val="4140"/>
              </a:lnSpc>
              <a:spcBef>
                <a:spcPts val="3600"/>
              </a:spcBef>
              <a:spcAft>
                <a:spcPts val="8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Supply Chains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62000" y="3420517"/>
            <a:ext cx="56733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2400"/>
              </a:spcAft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Landscape Analysis &amp; Epic Brainstorming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2000" y="3934867"/>
            <a:ext cx="56733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INFRASTRUCTURE · ELEVATED RISK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39609" y="4641949"/>
            <a:ext cx="5964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2026-04-27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38101"/>
          </a:xfrm>
          <a:prstGeom prst="rect">
            <a:avLst/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219051"/>
            <a:ext cx="9144000" cy="0"/>
          </a:xfrm>
          <a:prstGeom prst="line">
            <a:avLst/>
          </a:prstGeom>
          <a:noFill/>
          <a:ln w="381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2412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1000" y="6032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" y="1339602"/>
            <a:ext cx="4267200" cy="1126927"/>
          </a:xfrm>
          <a:prstGeom prst="roundRect">
            <a:avLst>
              <a:gd name="adj" fmla="val 4508"/>
            </a:avLst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57175" y="1339602"/>
            <a:ext cx="0" cy="1126927"/>
          </a:xfrm>
          <a:prstGeom prst="line">
            <a:avLst/>
          </a:prstGeom>
          <a:noFill/>
          <a:ln w="57150">
            <a:solidFill>
              <a:srgbClr val="1B6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2700" y="1657052"/>
            <a:ext cx="403527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900"/>
              </a:spcBef>
              <a:spcAft>
                <a:spcPts val="1900"/>
              </a:spcAft>
              <a:buNone/>
            </a:pPr>
            <a:r>
              <a:rPr lang="en-US" sz="19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10–100x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12700" y="2174528"/>
            <a:ext cx="40352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NHIs than human identities in enterprises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28600" y="2542729"/>
            <a:ext cx="4267200" cy="1126927"/>
          </a:xfrm>
          <a:prstGeom prst="roundRect">
            <a:avLst>
              <a:gd name="adj" fmla="val 4508"/>
            </a:avLst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57175" y="2542729"/>
            <a:ext cx="0" cy="1126927"/>
          </a:xfrm>
          <a:prstGeom prst="line">
            <a:avLst/>
          </a:prstGeom>
          <a:noFill/>
          <a:ln w="5715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2700" y="2860179"/>
            <a:ext cx="403527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900"/>
              </a:spcBef>
              <a:spcAft>
                <a:spcPts val="1900"/>
              </a:spcAft>
              <a:buNone/>
            </a:pPr>
            <a:r>
              <a:rPr lang="en-US" sz="1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$100M+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12700" y="3377654"/>
            <a:ext cx="40352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damages in single supply chain breaches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28600" y="3745855"/>
            <a:ext cx="4267200" cy="1126927"/>
          </a:xfrm>
          <a:prstGeom prst="roundRect">
            <a:avLst>
              <a:gd name="adj" fmla="val 4508"/>
            </a:avLst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57175" y="3745855"/>
            <a:ext cx="0" cy="1126927"/>
          </a:xfrm>
          <a:prstGeom prst="line">
            <a:avLst/>
          </a:prstGeom>
          <a:noFill/>
          <a:ln w="57150">
            <a:solidFill>
              <a:srgbClr val="1B6C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2700" y="4063305"/>
            <a:ext cx="403527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900"/>
              </a:spcBef>
              <a:spcAft>
                <a:spcPts val="1900"/>
              </a:spcAft>
              <a:buNone/>
            </a:pPr>
            <a:r>
              <a:rPr lang="en-US" sz="19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18,000+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12700" y="4580781"/>
            <a:ext cx="40352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Organizations impacted by SolarWinds attack alone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48200" y="1339602"/>
            <a:ext cx="4267200" cy="821382"/>
          </a:xfrm>
          <a:prstGeom prst="roundRect">
            <a:avLst>
              <a:gd name="adj" fmla="val 6185"/>
            </a:avLst>
          </a:prstGeom>
          <a:solidFill>
            <a:srgbClr val="1522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75150" y="1523702"/>
            <a:ext cx="4093565" cy="45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Non-Human Identities (NHIs)</a:t>
            </a:r>
            <a:pPr algn="l" indent="0" marL="0">
              <a:lnSpc>
                <a:spcPts val="1190"/>
              </a:lnSpc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service accounts, API tokens, CI/CD credentials, cloud IAM roles — represent the most under-managed attack surface in software supply chains.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648200" y="2237184"/>
            <a:ext cx="4267200" cy="670322"/>
          </a:xfrm>
          <a:prstGeom prst="roundRect">
            <a:avLst>
              <a:gd name="adj" fmla="val 7578"/>
            </a:avLst>
          </a:prstGeom>
          <a:solidFill>
            <a:srgbClr val="1522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75150" y="2421285"/>
            <a:ext cx="4093565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NHIs typically hold </a:t>
            </a:r>
            <a:pPr algn="l" indent="0" marL="0">
              <a:lnSpc>
                <a:spcPts val="1190"/>
              </a:lnSpc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elevated privileges</a:t>
            </a:r>
            <a:pPr algn="l" indent="0" marL="0">
              <a:lnSpc>
                <a:spcPts val="1190"/>
              </a:lnSpc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rotate infrequently, and proliferate across every pipeline stage: source code, build, artifact storage, and production runtime.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648200" y="2983706"/>
            <a:ext cx="4267200" cy="821382"/>
          </a:xfrm>
          <a:prstGeom prst="roundRect">
            <a:avLst>
              <a:gd name="adj" fmla="val 6185"/>
            </a:avLst>
          </a:prstGeom>
          <a:solidFill>
            <a:srgbClr val="1522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75150" y="3167807"/>
            <a:ext cx="4093565" cy="45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Attackers — from nation-state APTs to opportunistic criminals — specifically </a:t>
            </a:r>
            <a:pPr algn="l" indent="0" marL="0">
              <a:lnSpc>
                <a:spcPts val="1190"/>
              </a:lnSpc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NHI credentials</a:t>
            </a:r>
            <a:pPr algn="l" indent="0" marL="0">
              <a:lnSpc>
                <a:spcPts val="1190"/>
              </a:lnSpc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gain persistent, high-privilege access without triggering user-based detection.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38101"/>
          </a:xfrm>
          <a:prstGeom prst="rect">
            <a:avLst/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219051"/>
            <a:ext cx="914400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2412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 ATTACK SURFACE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1000" y="6032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Non-Human Identities?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" y="1460302"/>
            <a:ext cx="47877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 TYPES ACROSS THE PIPELINE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28600" y="1679377"/>
            <a:ext cx="2308771" cy="878979"/>
          </a:xfrm>
          <a:prstGeom prst="roundRect">
            <a:avLst>
              <a:gd name="adj" fmla="val 4335"/>
            </a:avLst>
          </a:prstGeom>
          <a:solidFill>
            <a:srgbClr val="1522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28600" y="1698427"/>
            <a:ext cx="2308771" cy="0"/>
          </a:xfrm>
          <a:prstGeom prst="line">
            <a:avLst/>
          </a:prstGeom>
          <a:noFill/>
          <a:ln w="38100">
            <a:solidFill>
              <a:srgbClr val="1B6C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7450" y="1876127"/>
            <a:ext cx="21736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Tokens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17450" y="2069753"/>
            <a:ext cx="2131070" cy="336352"/>
          </a:xfrm>
          <a:prstGeom prst="rect">
            <a:avLst/>
          </a:prstGeom>
          <a:noFill/>
          <a:ln/>
        </p:spPr>
        <p:txBody>
          <a:bodyPr wrap="square" lIns="69850" tIns="0" rIns="0" bIns="0" rtlCol="0" anchor="t"/>
          <a:lstStyle/>
          <a:p>
            <a:pPr algn="l" marL="69850" indent="-6985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/ GitLab PATs</a:t>
            </a:r>
            <a:endParaRPr lang="en-US" sz="700" dirty="0"/>
          </a:p>
          <a:p>
            <a:pPr algn="l" marL="69850" indent="-6985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access tokens</a:t>
            </a:r>
            <a:endParaRPr lang="en-US" sz="700" dirty="0"/>
          </a:p>
          <a:p>
            <a:pPr algn="l" marL="69850" indent="-6985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keys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613571" y="1679377"/>
            <a:ext cx="2308920" cy="878979"/>
          </a:xfrm>
          <a:prstGeom prst="roundRect">
            <a:avLst>
              <a:gd name="adj" fmla="val 4335"/>
            </a:avLst>
          </a:prstGeom>
          <a:solidFill>
            <a:srgbClr val="1522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613571" y="1698427"/>
            <a:ext cx="2308920" cy="0"/>
          </a:xfrm>
          <a:prstGeom prst="line">
            <a:avLst/>
          </a:prstGeom>
          <a:noFill/>
          <a:ln w="38100">
            <a:solidFill>
              <a:srgbClr val="1B6C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02421" y="1876127"/>
            <a:ext cx="217384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Credentials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702421" y="2069753"/>
            <a:ext cx="2131219" cy="336352"/>
          </a:xfrm>
          <a:prstGeom prst="rect">
            <a:avLst/>
          </a:prstGeom>
          <a:noFill/>
          <a:ln/>
        </p:spPr>
        <p:txBody>
          <a:bodyPr wrap="square" lIns="69850" tIns="0" rIns="0" bIns="0" rtlCol="0" anchor="t"/>
          <a:lstStyle/>
          <a:p>
            <a:pPr algn="l" marL="69850" indent="-6985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service accounts</a:t>
            </a:r>
            <a:endParaRPr lang="en-US" sz="700" dirty="0"/>
          </a:p>
          <a:p>
            <a:pPr algn="l" marL="69850" indent="-6985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secrets</a:t>
            </a:r>
            <a:endParaRPr lang="en-US" sz="700" dirty="0"/>
          </a:p>
          <a:p>
            <a:pPr algn="l" marL="69850" indent="-6985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Signing certificates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28600" y="2634555"/>
            <a:ext cx="2308771" cy="878979"/>
          </a:xfrm>
          <a:prstGeom prst="roundRect">
            <a:avLst>
              <a:gd name="adj" fmla="val 4335"/>
            </a:avLst>
          </a:prstGeom>
          <a:solidFill>
            <a:srgbClr val="1522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28600" y="2653605"/>
            <a:ext cx="2308771" cy="0"/>
          </a:xfrm>
          <a:prstGeom prst="line">
            <a:avLst/>
          </a:prstGeom>
          <a:noFill/>
          <a:ln w="38100">
            <a:solidFill>
              <a:srgbClr val="1B6C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7450" y="2831306"/>
            <a:ext cx="21736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Identities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17450" y="3024932"/>
            <a:ext cx="2131070" cy="336352"/>
          </a:xfrm>
          <a:prstGeom prst="rect">
            <a:avLst/>
          </a:prstGeom>
          <a:noFill/>
          <a:ln/>
        </p:spPr>
        <p:txBody>
          <a:bodyPr wrap="square" lIns="69850" tIns="0" rIns="0" bIns="0" rtlCol="0" anchor="t"/>
          <a:lstStyle/>
          <a:p>
            <a:pPr algn="l" marL="69850" indent="-6985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IAM roles/keys</a:t>
            </a:r>
            <a:endParaRPr lang="en-US" sz="700" dirty="0"/>
          </a:p>
          <a:p>
            <a:pPr algn="l" marL="69850" indent="-6985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Service Principals</a:t>
            </a:r>
            <a:endParaRPr lang="en-US" sz="700" dirty="0"/>
          </a:p>
          <a:p>
            <a:pPr algn="l" marL="69850" indent="-6985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GCP Service Accounts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613571" y="2634555"/>
            <a:ext cx="2308920" cy="878979"/>
          </a:xfrm>
          <a:prstGeom prst="roundRect">
            <a:avLst>
              <a:gd name="adj" fmla="val 4335"/>
            </a:avLst>
          </a:prstGeom>
          <a:solidFill>
            <a:srgbClr val="1522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2613571" y="2653605"/>
            <a:ext cx="2308920" cy="0"/>
          </a:xfrm>
          <a:prstGeom prst="line">
            <a:avLst/>
          </a:prstGeom>
          <a:noFill/>
          <a:ln w="38100">
            <a:solidFill>
              <a:srgbClr val="1B6C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02421" y="2831306"/>
            <a:ext cx="217384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Credentials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702421" y="3024932"/>
            <a:ext cx="2131219" cy="336352"/>
          </a:xfrm>
          <a:prstGeom prst="rect">
            <a:avLst/>
          </a:prstGeom>
          <a:noFill/>
          <a:ln/>
        </p:spPr>
        <p:txBody>
          <a:bodyPr wrap="square" lIns="69850" tIns="0" rIns="0" bIns="0" rtlCol="0" anchor="t"/>
          <a:lstStyle/>
          <a:p>
            <a:pPr algn="l" marL="69850" indent="-6985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SvcAccts</a:t>
            </a:r>
            <a:endParaRPr lang="en-US" sz="700" dirty="0"/>
          </a:p>
          <a:p>
            <a:pPr algn="l" marL="69850" indent="-6985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connection strings</a:t>
            </a:r>
            <a:endParaRPr lang="en-US" sz="700" dirty="0"/>
          </a:p>
          <a:p>
            <a:pPr algn="l" marL="69850" indent="-6985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Vault / Secrets Manager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074890" y="1460302"/>
            <a:ext cx="39173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NHIS ARE DANGEROUS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74890" y="1679377"/>
            <a:ext cx="3840510" cy="807541"/>
          </a:xfrm>
          <a:prstGeom prst="roundRect">
            <a:avLst>
              <a:gd name="adj" fmla="val 4718"/>
            </a:avLst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093940" y="1679377"/>
            <a:ext cx="0" cy="807541"/>
          </a:xfrm>
          <a:prstGeom prst="line">
            <a:avLst/>
          </a:prstGeom>
          <a:noFill/>
          <a:ln w="38100">
            <a:solidFill>
              <a:srgbClr val="1B6C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39941" y="1869728"/>
            <a:ext cx="3619479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NHIs span the entire software lifecycle — from developer commits, through CI/CD pipelines, artifact storage, to production runtime. Each stage introduces unique credential exposure risks.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74890" y="2563118"/>
            <a:ext cx="3840510" cy="807541"/>
          </a:xfrm>
          <a:prstGeom prst="roundRect">
            <a:avLst>
              <a:gd name="adj" fmla="val 4718"/>
            </a:avLst>
          </a:prstGeom>
          <a:solidFill>
            <a:srgbClr val="2A15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098703" y="2563118"/>
            <a:ext cx="0" cy="807541"/>
          </a:xfrm>
          <a:prstGeom prst="line">
            <a:avLst/>
          </a:prstGeom>
          <a:noFill/>
          <a:ln w="47625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49466" y="2753469"/>
            <a:ext cx="3609764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Gap:</a:t>
            </a:r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E8B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NHIs are often long-lived, over-privileged, and lack governance controls applied to human identities. They are prime targets because they are harder to detect when compromised.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74890" y="3446859"/>
            <a:ext cx="3840510" cy="807541"/>
          </a:xfrm>
          <a:prstGeom prst="roundRect">
            <a:avLst>
              <a:gd name="adj" fmla="val 4718"/>
            </a:avLst>
          </a:prstGeom>
          <a:solidFill>
            <a:srgbClr val="2A15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5098703" y="3446859"/>
            <a:ext cx="0" cy="807541"/>
          </a:xfrm>
          <a:prstGeom prst="line">
            <a:avLst/>
          </a:prstGeom>
          <a:noFill/>
          <a:ln w="47625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49466" y="3637211"/>
            <a:ext cx="3609764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Scale:</a:t>
            </a:r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E8B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Enterprises typically have 10-100x more NHIs than human identities, yet NHI security posture lags significantly behind human identity management maturity.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441103"/>
          </a:xfrm>
          <a:prstGeom prst="rect">
            <a:avLst/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422053"/>
            <a:ext cx="9144000" cy="0"/>
          </a:xfrm>
          <a:prstGeom prst="line">
            <a:avLst/>
          </a:prstGeom>
          <a:noFill/>
          <a:ln w="381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304651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1000" y="701427"/>
            <a:ext cx="854964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5-Stage Supply Chain Attack Surface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53901" y="1618804"/>
            <a:ext cx="1510605" cy="3346996"/>
          </a:xfrm>
          <a:prstGeom prst="roundRect">
            <a:avLst>
              <a:gd name="adj" fmla="val 3363"/>
            </a:avLst>
          </a:prstGeom>
          <a:solidFill>
            <a:srgbClr val="1522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53901" y="1637854"/>
            <a:ext cx="1510605" cy="0"/>
          </a:xfrm>
          <a:prstGeom prst="line">
            <a:avLst/>
          </a:prstGeom>
          <a:noFill/>
          <a:ln w="38100">
            <a:solidFill>
              <a:srgbClr val="1B6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0851" y="2012454"/>
            <a:ext cx="12818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0851" y="2685455"/>
            <a:ext cx="1281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Code Mgmt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0851" y="3098006"/>
            <a:ext cx="1281839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GitHub/GitLab tokens, SSH keys, code signing certs, webhook credentials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80851" y="3740497"/>
            <a:ext cx="1256705" cy="501551"/>
          </a:xfrm>
          <a:prstGeom prst="roundRect">
            <a:avLst>
              <a:gd name="adj" fmla="val 5064"/>
            </a:avLst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9901" y="3740497"/>
            <a:ext cx="0" cy="501551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802" y="3886498"/>
            <a:ext cx="10617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E8B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Hardcoded secrets, PAT leaks, git history mining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866007" y="3363664"/>
            <a:ext cx="6907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35225" y="1618804"/>
            <a:ext cx="1510754" cy="3346996"/>
          </a:xfrm>
          <a:prstGeom prst="roundRect">
            <a:avLst>
              <a:gd name="adj" fmla="val 3363"/>
            </a:avLst>
          </a:prstGeom>
          <a:solidFill>
            <a:srgbClr val="1522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035225" y="1637854"/>
            <a:ext cx="1510754" cy="0"/>
          </a:xfrm>
          <a:prstGeom prst="line">
            <a:avLst/>
          </a:prstGeom>
          <a:noFill/>
          <a:ln w="38100">
            <a:solidFill>
              <a:srgbClr val="1B6C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62175" y="2012454"/>
            <a:ext cx="12819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162175" y="2685455"/>
            <a:ext cx="12819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Mgmt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62175" y="3098006"/>
            <a:ext cx="1281991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npm/PyPI registry tokens, SBOM signing keys, artifact repo keys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62175" y="3740497"/>
            <a:ext cx="1256854" cy="606326"/>
          </a:xfrm>
          <a:prstGeom prst="roundRect">
            <a:avLst>
              <a:gd name="adj" fmla="val 4189"/>
            </a:avLst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2181225" y="3740497"/>
            <a:ext cx="0" cy="606326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9125" y="3886498"/>
            <a:ext cx="106187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E8B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hijacking, dependency confusion, malicious payloads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647480" y="3363664"/>
            <a:ext cx="6907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816697" y="1618804"/>
            <a:ext cx="1510605" cy="3346996"/>
          </a:xfrm>
          <a:prstGeom prst="roundRect">
            <a:avLst>
              <a:gd name="adj" fmla="val 3363"/>
            </a:avLst>
          </a:prstGeom>
          <a:solidFill>
            <a:srgbClr val="1522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816697" y="1637854"/>
            <a:ext cx="1510605" cy="0"/>
          </a:xfrm>
          <a:prstGeom prst="line">
            <a:avLst/>
          </a:prstGeom>
          <a:noFill/>
          <a:ln w="38100">
            <a:solidFill>
              <a:srgbClr val="1B6C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43648" y="2012454"/>
            <a:ext cx="12818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943648" y="2685455"/>
            <a:ext cx="1281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CI/CD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943648" y="3098006"/>
            <a:ext cx="1281839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Jenkins/GHA service accounts, cloud keys, container registry creds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943648" y="3740497"/>
            <a:ext cx="1256705" cy="711101"/>
          </a:xfrm>
          <a:prstGeom prst="roundRect">
            <a:avLst>
              <a:gd name="adj" fmla="val 3572"/>
            </a:avLst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3962698" y="3740497"/>
            <a:ext cx="0" cy="711101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70598" y="3886498"/>
            <a:ext cx="106172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E8B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Over-privileged pipelines, secrets in build logs, 3rd-party actions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428804" y="3363664"/>
            <a:ext cx="6907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598021" y="1618804"/>
            <a:ext cx="1510754" cy="3346996"/>
          </a:xfrm>
          <a:prstGeom prst="roundRect">
            <a:avLst>
              <a:gd name="adj" fmla="val 3363"/>
            </a:avLst>
          </a:prstGeom>
          <a:solidFill>
            <a:srgbClr val="1522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5598021" y="1637854"/>
            <a:ext cx="1510754" cy="0"/>
          </a:xfrm>
          <a:prstGeom prst="line">
            <a:avLst/>
          </a:prstGeom>
          <a:noFill/>
          <a:ln w="38100">
            <a:solidFill>
              <a:srgbClr val="1B6C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24971" y="2012454"/>
            <a:ext cx="12819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724971" y="2685455"/>
            <a:ext cx="12819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Storage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724971" y="3098006"/>
            <a:ext cx="1281991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registry creds, image signing keys, CDN/S3 access keys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24971" y="3740497"/>
            <a:ext cx="1256854" cy="606326"/>
          </a:xfrm>
          <a:prstGeom prst="roundRect">
            <a:avLst>
              <a:gd name="adj" fmla="val 4189"/>
            </a:avLst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5744021" y="3740497"/>
            <a:ext cx="0" cy="606326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51922" y="3886498"/>
            <a:ext cx="106187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E8B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secrets in images, unverified signatures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210276" y="3363664"/>
            <a:ext cx="6907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379494" y="1618804"/>
            <a:ext cx="1510605" cy="3346996"/>
          </a:xfrm>
          <a:prstGeom prst="roundRect">
            <a:avLst>
              <a:gd name="adj" fmla="val 3363"/>
            </a:avLst>
          </a:prstGeom>
          <a:solidFill>
            <a:srgbClr val="1522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7379494" y="1637854"/>
            <a:ext cx="1510605" cy="0"/>
          </a:xfrm>
          <a:prstGeom prst="line">
            <a:avLst/>
          </a:prstGeom>
          <a:noFill/>
          <a:ln w="38100">
            <a:solidFill>
              <a:srgbClr val="1B6CA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06444" y="2012454"/>
            <a:ext cx="12818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7506444" y="2685455"/>
            <a:ext cx="1281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&amp; Runtime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506444" y="3098006"/>
            <a:ext cx="1281839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service accounts, cloud IAM roles, DB strings, Vault credentials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506444" y="3740497"/>
            <a:ext cx="1256705" cy="606326"/>
          </a:xfrm>
          <a:prstGeom prst="roundRect">
            <a:avLst>
              <a:gd name="adj" fmla="val 4189"/>
            </a:avLst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7525494" y="3740497"/>
            <a:ext cx="0" cy="606326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33395" y="3886498"/>
            <a:ext cx="106172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E8B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escape, SSRF metadata theft, over-privileged SAs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38101"/>
          </a:xfrm>
          <a:prstGeom prst="rect">
            <a:avLst/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219051"/>
            <a:ext cx="9144000" cy="0"/>
          </a:xfrm>
          <a:prstGeom prst="line">
            <a:avLst/>
          </a:prstGeom>
          <a:noFill/>
          <a:ln w="381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2412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DEEP-DIVE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1000" y="6032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Code Management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" y="1447651"/>
            <a:ext cx="435254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 TYPES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28600" y="1653927"/>
            <a:ext cx="4267200" cy="1028105"/>
          </a:xfrm>
          <a:prstGeom prst="roundRect">
            <a:avLst>
              <a:gd name="adj" fmla="val 3706"/>
            </a:avLst>
          </a:prstGeom>
          <a:solidFill>
            <a:srgbClr val="1522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52413" y="1653927"/>
            <a:ext cx="0" cy="1028105"/>
          </a:xfrm>
          <a:prstGeom prst="line">
            <a:avLst/>
          </a:prstGeom>
          <a:noFill/>
          <a:ln w="47625">
            <a:solidFill>
              <a:srgbClr val="1B6C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3175" y="1831628"/>
            <a:ext cx="3965674" cy="672703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API tokens (GitHub, GitLab, Bitbucket)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SSH keys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signing certificates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webhook credentials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Access Tokens (PATs)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28600" y="2853482"/>
            <a:ext cx="435254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VULNERABILITIES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28600" y="3059757"/>
            <a:ext cx="4267200" cy="1028105"/>
          </a:xfrm>
          <a:prstGeom prst="roundRect">
            <a:avLst>
              <a:gd name="adj" fmla="val 3706"/>
            </a:avLst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52413" y="3059757"/>
            <a:ext cx="0" cy="1028105"/>
          </a:xfrm>
          <a:prstGeom prst="line">
            <a:avLst/>
          </a:prstGeom>
          <a:noFill/>
          <a:ln w="47625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3175" y="3237458"/>
            <a:ext cx="3965674" cy="672703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8B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Hardcoded secrets in source code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8B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 in version control history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8B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Insufficient branch protection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8B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Compromised developer workstations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8B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Exposed PATs in public repos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48200" y="1447651"/>
            <a:ext cx="435254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SCENARIOS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648200" y="1653927"/>
            <a:ext cx="4267200" cy="684312"/>
          </a:xfrm>
          <a:prstGeom prst="roundRect">
            <a:avLst>
              <a:gd name="adj" fmla="val 5568"/>
            </a:avLst>
          </a:prstGeom>
          <a:solidFill>
            <a:srgbClr val="2A15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48200" y="1663452"/>
            <a:ext cx="426720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5150" y="1863328"/>
            <a:ext cx="4093565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Compromise:</a:t>
            </a:r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Attacker scans public repos for leaked tokens, gaining repo write access to inject malicious code.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48200" y="2414439"/>
            <a:ext cx="4267200" cy="684312"/>
          </a:xfrm>
          <a:prstGeom prst="roundRect">
            <a:avLst>
              <a:gd name="adj" fmla="val 5568"/>
            </a:avLst>
          </a:prstGeom>
          <a:solidFill>
            <a:srgbClr val="2A15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48200" y="2423964"/>
            <a:ext cx="426720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5150" y="2623840"/>
            <a:ext cx="4093565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History Mining:</a:t>
            </a:r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Even after removal, credentials in git history remain extractable using tools like TruffleHog or GitLeaks.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48200" y="3174950"/>
            <a:ext cx="4267200" cy="684312"/>
          </a:xfrm>
          <a:prstGeom prst="roundRect">
            <a:avLst>
              <a:gd name="adj" fmla="val 5568"/>
            </a:avLst>
          </a:prstGeom>
          <a:solidFill>
            <a:srgbClr val="2A15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648200" y="3184475"/>
            <a:ext cx="426720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5150" y="3384352"/>
            <a:ext cx="4093565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Injection:</a:t>
            </a:r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Fork + pull request triggers CI pipeline with access to secrets, enabling exfiltration via malicious code in PR.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48200" y="3935462"/>
            <a:ext cx="4267200" cy="684312"/>
          </a:xfrm>
          <a:prstGeom prst="roundRect">
            <a:avLst>
              <a:gd name="adj" fmla="val 5568"/>
            </a:avLst>
          </a:prstGeom>
          <a:solidFill>
            <a:srgbClr val="2A15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48200" y="3944987"/>
            <a:ext cx="426720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5150" y="4144863"/>
            <a:ext cx="4093565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Tools:</a:t>
            </a:r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GitLeaks, TruffleHog, git-secrets, GitHub Secret Scanning, pre-commit hooks.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38101"/>
          </a:xfrm>
          <a:prstGeom prst="rect">
            <a:avLst/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219051"/>
            <a:ext cx="914400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2412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 DEEP-DIVE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1000" y="6032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CI/CD Pipeline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" y="1447651"/>
            <a:ext cx="47877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 TYPES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28600" y="1653927"/>
            <a:ext cx="4693890" cy="1028105"/>
          </a:xfrm>
          <a:prstGeom prst="roundRect">
            <a:avLst>
              <a:gd name="adj" fmla="val 3706"/>
            </a:avLst>
          </a:prstGeom>
          <a:solidFill>
            <a:srgbClr val="1522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52413" y="1653927"/>
            <a:ext cx="0" cy="1028105"/>
          </a:xfrm>
          <a:prstGeom prst="line">
            <a:avLst/>
          </a:prstGeom>
          <a:noFill/>
          <a:ln w="47625">
            <a:solidFill>
              <a:srgbClr val="1B6C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3175" y="1831628"/>
            <a:ext cx="4392364" cy="672703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service accounts (Jenkins, GitHub Actions, GitLab CI)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provider access keys (AWS, Azure, GCP)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registry credentials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signing certificates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keys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28600" y="2853482"/>
            <a:ext cx="47877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VULNERABILITIES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28600" y="3059757"/>
            <a:ext cx="4693890" cy="1028105"/>
          </a:xfrm>
          <a:prstGeom prst="roundRect">
            <a:avLst>
              <a:gd name="adj" fmla="val 3706"/>
            </a:avLst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52413" y="3059757"/>
            <a:ext cx="0" cy="1028105"/>
          </a:xfrm>
          <a:prstGeom prst="line">
            <a:avLst/>
          </a:prstGeom>
          <a:noFill/>
          <a:ln w="47625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3175" y="3237458"/>
            <a:ext cx="4392364" cy="672703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8B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Over-privileged CI/CD service accounts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8B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Long-lived credentials in pipeline configs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8B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exposed in build logs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8B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GitHub Actions with excessive permissions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8B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Unencrypted secrets in pipeline definitions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74890" y="1447651"/>
            <a:ext cx="39173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INCIDENTS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074890" y="1653927"/>
            <a:ext cx="3840510" cy="665262"/>
          </a:xfrm>
          <a:prstGeom prst="roundRect">
            <a:avLst>
              <a:gd name="adj" fmla="val 5727"/>
            </a:avLst>
          </a:prstGeom>
          <a:solidFill>
            <a:srgbClr val="2A15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093940" y="1653927"/>
            <a:ext cx="0" cy="665262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9941" y="1844278"/>
            <a:ext cx="3619479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SolarWinds (2020)</a:t>
            </a:r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Build system compromise injected malicious code into Orion updates; 18,000+ organizations impacted.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74890" y="2395389"/>
            <a:ext cx="3840510" cy="665262"/>
          </a:xfrm>
          <a:prstGeom prst="roundRect">
            <a:avLst>
              <a:gd name="adj" fmla="val 5727"/>
            </a:avLst>
          </a:prstGeom>
          <a:solidFill>
            <a:srgbClr val="2A15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093940" y="2395389"/>
            <a:ext cx="0" cy="665262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39941" y="2585740"/>
            <a:ext cx="3619479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Codecov (2021)</a:t>
            </a:r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Bash Uploader script modified to exfiltrate CI/CD environment variables for 2+ months.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74890" y="3136850"/>
            <a:ext cx="3840510" cy="665262"/>
          </a:xfrm>
          <a:prstGeom prst="roundRect">
            <a:avLst>
              <a:gd name="adj" fmla="val 5727"/>
            </a:avLst>
          </a:prstGeom>
          <a:solidFill>
            <a:srgbClr val="2A15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093940" y="3136850"/>
            <a:ext cx="0" cy="665262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9941" y="3327202"/>
            <a:ext cx="3619479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Travis CI (2021)</a:t>
            </a:r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Secrets exposed in build logs, accessible to unauthorized users.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74890" y="3878312"/>
            <a:ext cx="3840510" cy="665262"/>
          </a:xfrm>
          <a:prstGeom prst="roundRect">
            <a:avLst>
              <a:gd name="adj" fmla="val 5727"/>
            </a:avLst>
          </a:prstGeom>
          <a:solidFill>
            <a:srgbClr val="2A15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093940" y="3878312"/>
            <a:ext cx="0" cy="665262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39941" y="4068663"/>
            <a:ext cx="3619479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CircleCI (2023)</a:t>
            </a:r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Customer secrets and tokens compromised, requiring mass credential rotation.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38101"/>
          </a:xfrm>
          <a:prstGeom prst="rect">
            <a:avLst/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219051"/>
            <a:ext cx="9144000" cy="0"/>
          </a:xfrm>
          <a:prstGeom prst="line">
            <a:avLst/>
          </a:prstGeom>
          <a:noFill/>
          <a:ln w="381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2412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 DEEP-DIVE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1000" y="6032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&amp; Runtime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" y="1447651"/>
            <a:ext cx="435254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 TYPES AT RUNTIME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28600" y="1653927"/>
            <a:ext cx="4267200" cy="1028105"/>
          </a:xfrm>
          <a:prstGeom prst="roundRect">
            <a:avLst>
              <a:gd name="adj" fmla="val 3706"/>
            </a:avLst>
          </a:prstGeom>
          <a:solidFill>
            <a:srgbClr val="1522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52413" y="1653927"/>
            <a:ext cx="0" cy="1028105"/>
          </a:xfrm>
          <a:prstGeom prst="line">
            <a:avLst/>
          </a:prstGeom>
          <a:noFill/>
          <a:ln w="47625">
            <a:solidFill>
              <a:srgbClr val="1B6C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3175" y="1831628"/>
            <a:ext cx="3965674" cy="672703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service accounts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IAM roles and service principals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connection strings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keys for external services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certificates &amp; secrets mgmt creds (Vault)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28600" y="2853482"/>
            <a:ext cx="435254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VULNERABILITIES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28600" y="3059757"/>
            <a:ext cx="4267200" cy="1028105"/>
          </a:xfrm>
          <a:prstGeom prst="roundRect">
            <a:avLst>
              <a:gd name="adj" fmla="val 3706"/>
            </a:avLst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52413" y="3059757"/>
            <a:ext cx="0" cy="1028105"/>
          </a:xfrm>
          <a:prstGeom prst="line">
            <a:avLst/>
          </a:prstGeom>
          <a:noFill/>
          <a:ln w="47625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3175" y="3237458"/>
            <a:ext cx="3965674" cy="672703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8B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mounted as environment variables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8B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Over-privileged Kubernetes service accounts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8B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Unrotated, long-lived credentials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8B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Exposed cloud metadata services (AWS IMDS)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8B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Insufficient network segmentation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48200" y="1447651"/>
            <a:ext cx="435254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SCENARIOS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648200" y="1653927"/>
            <a:ext cx="4267200" cy="684312"/>
          </a:xfrm>
          <a:prstGeom prst="roundRect">
            <a:avLst>
              <a:gd name="adj" fmla="val 5568"/>
            </a:avLst>
          </a:prstGeom>
          <a:solidFill>
            <a:srgbClr val="2A15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48200" y="1663452"/>
            <a:ext cx="4267200" cy="0"/>
          </a:xfrm>
          <a:prstGeom prst="line">
            <a:avLst/>
          </a:prstGeom>
          <a:noFill/>
          <a:ln w="19050">
            <a:solidFill>
              <a:srgbClr val="1B6C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5150" y="1863328"/>
            <a:ext cx="4093565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Escape:</a:t>
            </a:r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Attacker escapes container to access host credentials or adjacent workload secrets.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48200" y="2414439"/>
            <a:ext cx="4267200" cy="684312"/>
          </a:xfrm>
          <a:prstGeom prst="roundRect">
            <a:avLst>
              <a:gd name="adj" fmla="val 5568"/>
            </a:avLst>
          </a:prstGeom>
          <a:solidFill>
            <a:srgbClr val="2A15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48200" y="2423964"/>
            <a:ext cx="4267200" cy="0"/>
          </a:xfrm>
          <a:prstGeom prst="line">
            <a:avLst/>
          </a:prstGeom>
          <a:noFill/>
          <a:ln w="19050">
            <a:solidFill>
              <a:srgbClr val="1B6C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5150" y="2623840"/>
            <a:ext cx="4093565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SSRF to Cloud Metadata:</a:t>
            </a:r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Server-Side Request Forgery exploits AWS IMDS v1 to steal instance IAM credentials without authentication.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48200" y="3174950"/>
            <a:ext cx="4267200" cy="684312"/>
          </a:xfrm>
          <a:prstGeom prst="roundRect">
            <a:avLst>
              <a:gd name="adj" fmla="val 5568"/>
            </a:avLst>
          </a:prstGeom>
          <a:solidFill>
            <a:srgbClr val="2A15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648200" y="3184475"/>
            <a:ext cx="4267200" cy="0"/>
          </a:xfrm>
          <a:prstGeom prst="line">
            <a:avLst/>
          </a:prstGeom>
          <a:noFill/>
          <a:ln w="19050">
            <a:solidFill>
              <a:srgbClr val="1B6C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5150" y="3384352"/>
            <a:ext cx="4093565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Secret Extraction:</a:t>
            </a:r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Over-permissioned pod reads all cluster secrets, enabling full cluster compromise.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48200" y="3935462"/>
            <a:ext cx="4267200" cy="684312"/>
          </a:xfrm>
          <a:prstGeom prst="roundRect">
            <a:avLst>
              <a:gd name="adj" fmla="val 5568"/>
            </a:avLst>
          </a:prstGeom>
          <a:solidFill>
            <a:srgbClr val="2A15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48200" y="3944987"/>
            <a:ext cx="4267200" cy="0"/>
          </a:xfrm>
          <a:prstGeom prst="line">
            <a:avLst/>
          </a:prstGeom>
          <a:noFill/>
          <a:ln w="19050">
            <a:solidFill>
              <a:srgbClr val="1B6C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5150" y="4144863"/>
            <a:ext cx="4093565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Lateral Movement:</a:t>
            </a:r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Compromised service account used to pivot across microservices, accessing databases and downstream APIs.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38101"/>
          </a:xfrm>
          <a:prstGeom prst="rect">
            <a:avLst/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219051"/>
            <a:ext cx="914400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2412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HISTORY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1000" y="6032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NHI Breach Timeline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03150" y="1466552"/>
            <a:ext cx="891245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supply chain incidents involving NHI credential compromise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3150" y="1771204"/>
            <a:ext cx="1286917" cy="1769418"/>
          </a:xfrm>
          <a:prstGeom prst="roundRect">
            <a:avLst>
              <a:gd name="adj" fmla="val 2961"/>
            </a:avLst>
          </a:prstGeom>
          <a:solidFill>
            <a:srgbClr val="2A15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03150" y="1790254"/>
            <a:ext cx="1286917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4651" y="2063204"/>
            <a:ext cx="11055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4651" y="2428280"/>
            <a:ext cx="11055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event-stream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04651" y="2644080"/>
            <a:ext cx="1105594" cy="599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Compromised npm package with 2M weekly downloads; malicious payload targeting Bitcoin wallets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566267" y="2481263"/>
            <a:ext cx="517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55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93218" y="1771204"/>
            <a:ext cx="1287066" cy="1769418"/>
          </a:xfrm>
          <a:prstGeom prst="roundRect">
            <a:avLst>
              <a:gd name="adj" fmla="val 2960"/>
            </a:avLst>
          </a:prstGeom>
          <a:solidFill>
            <a:srgbClr val="2A15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1693218" y="1790254"/>
            <a:ext cx="1287066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94718" y="2063204"/>
            <a:ext cx="11057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94718" y="2428280"/>
            <a:ext cx="11057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SolarWinds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794718" y="2644080"/>
            <a:ext cx="1105745" cy="599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system compromise; 18,000+ orgs affected; nation-state APT29 attribution; $100M+ damages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056483" y="2481263"/>
            <a:ext cx="517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55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83434" y="1771204"/>
            <a:ext cx="1286917" cy="1769418"/>
          </a:xfrm>
          <a:prstGeom prst="roundRect">
            <a:avLst>
              <a:gd name="adj" fmla="val 2961"/>
            </a:avLst>
          </a:prstGeom>
          <a:solidFill>
            <a:srgbClr val="2A15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183434" y="1790254"/>
            <a:ext cx="1286917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84934" y="2063204"/>
            <a:ext cx="11055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84934" y="2428280"/>
            <a:ext cx="11055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Codecov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84934" y="2644080"/>
            <a:ext cx="1105594" cy="479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Uploader modified to exfiltrate CI/CD env vars; hundreds of customers affected for 2+ months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546550" y="2481263"/>
            <a:ext cx="517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55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73501" y="1771204"/>
            <a:ext cx="1287066" cy="1769418"/>
          </a:xfrm>
          <a:prstGeom prst="roundRect">
            <a:avLst>
              <a:gd name="adj" fmla="val 2960"/>
            </a:avLst>
          </a:prstGeom>
          <a:solidFill>
            <a:srgbClr val="2A15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73501" y="1790254"/>
            <a:ext cx="1287066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5002" y="2063204"/>
            <a:ext cx="11057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75002" y="2428280"/>
            <a:ext cx="11057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ua-parser-js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75002" y="2644080"/>
            <a:ext cx="1105745" cy="599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Legitimate npm package hijacked via compromised maintainer account; cryptominer &amp; credential stealer injected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036766" y="2481263"/>
            <a:ext cx="517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55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63717" y="1771204"/>
            <a:ext cx="1286917" cy="1769418"/>
          </a:xfrm>
          <a:prstGeom prst="roundRect">
            <a:avLst>
              <a:gd name="adj" fmla="val 2961"/>
            </a:avLst>
          </a:prstGeom>
          <a:solidFill>
            <a:srgbClr val="1522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6163717" y="1790254"/>
            <a:ext cx="1286917" cy="0"/>
          </a:xfrm>
          <a:prstGeom prst="line">
            <a:avLst/>
          </a:prstGeom>
          <a:noFill/>
          <a:ln w="38100">
            <a:solidFill>
              <a:srgbClr val="1B6C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5218" y="2063204"/>
            <a:ext cx="11055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65218" y="2428280"/>
            <a:ext cx="11055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OAuth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65218" y="2644080"/>
            <a:ext cx="1105594" cy="479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tokens stolen from Heroku &amp; Travis CI; private repos accessed; npm packages downloaded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7526834" y="2481263"/>
            <a:ext cx="517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55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653784" y="1771204"/>
            <a:ext cx="1287066" cy="1769418"/>
          </a:xfrm>
          <a:prstGeom prst="roundRect">
            <a:avLst>
              <a:gd name="adj" fmla="val 2960"/>
            </a:avLst>
          </a:prstGeom>
          <a:solidFill>
            <a:srgbClr val="1522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7653784" y="1790254"/>
            <a:ext cx="1287066" cy="0"/>
          </a:xfrm>
          <a:prstGeom prst="line">
            <a:avLst/>
          </a:prstGeom>
          <a:noFill/>
          <a:ln w="38100">
            <a:solidFill>
              <a:srgbClr val="1B6CA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55285" y="2063204"/>
            <a:ext cx="11057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755285" y="2428280"/>
            <a:ext cx="11057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CircleCI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755285" y="2644080"/>
            <a:ext cx="1105745" cy="71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credential compromise led to customer secrets exposure; mass rotation required across thousands of orgs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38101"/>
          </a:xfrm>
          <a:prstGeom prst="rect">
            <a:avLst/>
          </a:prstGeom>
          <a:solidFill>
            <a:srgbClr val="2A15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219051"/>
            <a:ext cx="914400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2412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1000" y="6032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SolarWinds Supply Chain Attack (2020)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" y="1352401"/>
            <a:ext cx="2082850" cy="996851"/>
          </a:xfrm>
          <a:prstGeom prst="roundRect">
            <a:avLst>
              <a:gd name="adj" fmla="val 3822"/>
            </a:avLst>
          </a:prstGeom>
          <a:solidFill>
            <a:srgbClr val="2A15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37261" y="1631752"/>
            <a:ext cx="186552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18,000+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7261" y="2073027"/>
            <a:ext cx="18655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Organizations impacted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412950" y="1352401"/>
            <a:ext cx="2082850" cy="996851"/>
          </a:xfrm>
          <a:prstGeom prst="roundRect">
            <a:avLst>
              <a:gd name="adj" fmla="val 3822"/>
            </a:avLst>
          </a:prstGeom>
          <a:solidFill>
            <a:srgbClr val="2A15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521611" y="1631752"/>
            <a:ext cx="186552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$100M+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21611" y="2073027"/>
            <a:ext cx="18655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damages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28600" y="2520702"/>
            <a:ext cx="435254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28600" y="2726978"/>
            <a:ext cx="4267200" cy="782241"/>
          </a:xfrm>
          <a:prstGeom prst="roundRect">
            <a:avLst>
              <a:gd name="adj" fmla="val 4871"/>
            </a:avLst>
          </a:prstGeom>
          <a:solidFill>
            <a:srgbClr val="1522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52413" y="2726978"/>
            <a:ext cx="0" cy="782241"/>
          </a:xfrm>
          <a:prstGeom prst="line">
            <a:avLst/>
          </a:prstGeom>
          <a:noFill/>
          <a:ln w="47625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3175" y="2904679"/>
            <a:ext cx="4044988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System Compromise:</a:t>
            </a:r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Attackers (APT29 / Cozy Bear) gained access to SolarWinds' Orion build system, injecting a malicious DLL — SUNBURST — into legitimate software updates.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28600" y="3585418"/>
            <a:ext cx="4267200" cy="639961"/>
          </a:xfrm>
          <a:prstGeom prst="roundRect">
            <a:avLst>
              <a:gd name="adj" fmla="val 5953"/>
            </a:avLst>
          </a:prstGeom>
          <a:solidFill>
            <a:srgbClr val="1522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52413" y="3585418"/>
            <a:ext cx="0" cy="639961"/>
          </a:xfrm>
          <a:prstGeom prst="line">
            <a:avLst/>
          </a:prstGeom>
          <a:noFill/>
          <a:ln w="47625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3175" y="3763119"/>
            <a:ext cx="4044988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Distribution:</a:t>
            </a:r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Malicious updates were digitally signed and distributed via official channels to 18,000+ customers, including multiple US federal agencies.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48200" y="1447651"/>
            <a:ext cx="435254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 VULNERABILITIES EXPLOITED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648200" y="1653927"/>
            <a:ext cx="4267200" cy="1028105"/>
          </a:xfrm>
          <a:prstGeom prst="roundRect">
            <a:avLst>
              <a:gd name="adj" fmla="val 3706"/>
            </a:avLst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72013" y="1653927"/>
            <a:ext cx="0" cy="1028105"/>
          </a:xfrm>
          <a:prstGeom prst="line">
            <a:avLst/>
          </a:prstGeom>
          <a:noFill/>
          <a:ln w="47625">
            <a:solidFill>
              <a:srgbClr val="1B6C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2775" y="1831628"/>
            <a:ext cx="3965674" cy="672703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Compromised build system service account credentials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code signing process — signed without integrity checks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Over-privileged build agent access to production pipeline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build provenance or attestation mechanisms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Insufficient build environment isolation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48200" y="2853482"/>
            <a:ext cx="435254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LEARNED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648200" y="3059757"/>
            <a:ext cx="4267200" cy="888504"/>
          </a:xfrm>
          <a:prstGeom prst="roundRect">
            <a:avLst>
              <a:gd name="adj" fmla="val 4288"/>
            </a:avLst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72013" y="3059757"/>
            <a:ext cx="0" cy="888504"/>
          </a:xfrm>
          <a:prstGeom prst="line">
            <a:avLst/>
          </a:prstGeom>
          <a:noFill/>
          <a:ln w="47625">
            <a:solidFill>
              <a:srgbClr val="1B6C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2775" y="3237458"/>
            <a:ext cx="3965674" cy="533102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systems are critical infrastructure — harden aggressively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SLSA provenance and build attestation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signing alone is insufficient without build integrity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build environments from production credentials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38101"/>
          </a:xfrm>
          <a:prstGeom prst="rect">
            <a:avLst/>
          </a:prstGeom>
          <a:solidFill>
            <a:srgbClr val="2A15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219051"/>
            <a:ext cx="914400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2412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STUDIES 2 &amp;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1000" y="6032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Codecov (2021) &amp; CircleCI (2023)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" y="1352401"/>
            <a:ext cx="4178350" cy="714375"/>
          </a:xfrm>
          <a:prstGeom prst="roundRect">
            <a:avLst>
              <a:gd name="adj" fmla="val 5333"/>
            </a:avLst>
          </a:prstGeom>
          <a:solidFill>
            <a:srgbClr val="2A15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52413" y="1352401"/>
            <a:ext cx="0" cy="714375"/>
          </a:xfrm>
          <a:prstGeom prst="line">
            <a:avLst/>
          </a:prstGeom>
          <a:noFill/>
          <a:ln w="47625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7726" y="1542901"/>
            <a:ext cx="40062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Codecov Bash Uploader Breach — 2021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77726" y="1790551"/>
            <a:ext cx="40062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affected: hundreds over 2+ months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28600" y="2142976"/>
            <a:ext cx="4178350" cy="609600"/>
          </a:xfrm>
          <a:prstGeom prst="roundRect">
            <a:avLst>
              <a:gd name="adj" fmla="val 6250"/>
            </a:avLst>
          </a:prstGeom>
          <a:solidFill>
            <a:srgbClr val="1522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0101" y="2314426"/>
            <a:ext cx="40548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Vector:</a:t>
            </a:r>
            <a:pPr algn="l" indent="0" marL="0">
              <a:lnSpc>
                <a:spcPts val="105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Attackers modified Codecov's Bash Uploader script by compromising Docker image creation credentials, embedding credential-exfiltration code.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28600" y="2828776"/>
            <a:ext cx="4178350" cy="609600"/>
          </a:xfrm>
          <a:prstGeom prst="roundRect">
            <a:avLst>
              <a:gd name="adj" fmla="val 6250"/>
            </a:avLst>
          </a:prstGeom>
          <a:solidFill>
            <a:srgbClr val="1522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30101" y="3000226"/>
            <a:ext cx="40548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</a:t>
            </a:r>
            <a:pPr algn="l" indent="0" marL="0">
              <a:lnSpc>
                <a:spcPts val="105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CI/CD pipelines at hundreds of customers silently exfiltrated all environment variables — including cloud keys, tokens, and signing certificates — to attacker infrastructure.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28600" y="3514576"/>
            <a:ext cx="4178350" cy="1022003"/>
          </a:xfrm>
          <a:prstGeom prst="roundRect">
            <a:avLst>
              <a:gd name="adj" fmla="val 3728"/>
            </a:avLst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47650" y="3514576"/>
            <a:ext cx="0" cy="1022003"/>
          </a:xfrm>
          <a:prstGeom prst="line">
            <a:avLst/>
          </a:prstGeom>
          <a:noFill/>
          <a:ln w="38100">
            <a:solidFill>
              <a:srgbClr val="1B6C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201" y="3679627"/>
            <a:ext cx="40159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LESSONS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68201" y="3870127"/>
            <a:ext cx="3937248" cy="495002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integrity of all downloaded scripts (checksum)</a:t>
            </a:r>
            <a:endParaRPr lang="en-US" sz="75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Minimize secrets in CI/CD environment variables</a:t>
            </a:r>
            <a:endParaRPr lang="en-US" sz="75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short-lived credentials over long-lived tokens</a:t>
            </a:r>
            <a:endParaRPr lang="en-US" sz="75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secret scanning and anomaly detection in pipelines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559350" y="1352401"/>
            <a:ext cx="25301" cy="3689598"/>
          </a:xfrm>
          <a:prstGeom prst="rect">
            <a:avLst/>
          </a:prstGeom>
          <a:solidFill>
            <a:srgbClr val="2A35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37050" y="1352401"/>
            <a:ext cx="4178350" cy="714375"/>
          </a:xfrm>
          <a:prstGeom prst="roundRect">
            <a:avLst>
              <a:gd name="adj" fmla="val 5333"/>
            </a:avLst>
          </a:prstGeom>
          <a:solidFill>
            <a:srgbClr val="2A15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760863" y="1352401"/>
            <a:ext cx="0" cy="714375"/>
          </a:xfrm>
          <a:prstGeom prst="line">
            <a:avLst/>
          </a:prstGeom>
          <a:noFill/>
          <a:ln w="47625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86176" y="1542901"/>
            <a:ext cx="40062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CircleCI Security Incident — 2023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86176" y="1790551"/>
            <a:ext cx="40062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Affected: thousands of organizations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737050" y="2142976"/>
            <a:ext cx="4178350" cy="609600"/>
          </a:xfrm>
          <a:prstGeom prst="roundRect">
            <a:avLst>
              <a:gd name="adj" fmla="val 6250"/>
            </a:avLst>
          </a:prstGeom>
          <a:solidFill>
            <a:srgbClr val="1522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38551" y="2314426"/>
            <a:ext cx="40548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Vector:</a:t>
            </a:r>
            <a:pPr algn="l" indent="0" marL="0">
              <a:lnSpc>
                <a:spcPts val="105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Compromised employee endpoint led to theft of session token, bypassing 2FA. Attackers gained access to CircleCI's production systems and customer secrets storage.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737050" y="2828776"/>
            <a:ext cx="4178350" cy="609600"/>
          </a:xfrm>
          <a:prstGeom prst="roundRect">
            <a:avLst>
              <a:gd name="adj" fmla="val 6250"/>
            </a:avLst>
          </a:prstGeom>
          <a:solidFill>
            <a:srgbClr val="1522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38551" y="3000226"/>
            <a:ext cx="40548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</a:t>
            </a:r>
            <a:pPr algn="l" indent="0" marL="0">
              <a:lnSpc>
                <a:spcPts val="105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Customer secrets, tokens, and keys potentially exposed. Mass credential rotation required across thousands of downstream organizations.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737050" y="3514576"/>
            <a:ext cx="4178350" cy="1022003"/>
          </a:xfrm>
          <a:prstGeom prst="roundRect">
            <a:avLst>
              <a:gd name="adj" fmla="val 3728"/>
            </a:avLst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756100" y="3514576"/>
            <a:ext cx="0" cy="1022003"/>
          </a:xfrm>
          <a:prstGeom prst="line">
            <a:avLst/>
          </a:prstGeom>
          <a:noFill/>
          <a:ln w="38100">
            <a:solidFill>
              <a:srgbClr val="1B6C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76651" y="3679627"/>
            <a:ext cx="40159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LESSONS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876651" y="3870127"/>
            <a:ext cx="3937248" cy="495002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management systems are high-value targets</a:t>
            </a:r>
            <a:endParaRPr lang="en-US" sz="75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secrets rotation for rapid response</a:t>
            </a:r>
            <a:endParaRPr lang="en-US" sz="75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customer-managed encryption keys (BYOK)</a:t>
            </a:r>
            <a:endParaRPr lang="en-US" sz="75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secrets usage for anomalous access patterns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38101"/>
          </a:xfrm>
          <a:prstGeom prst="rect">
            <a:avLst/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219051"/>
            <a:ext cx="9144000" cy="0"/>
          </a:xfrm>
          <a:prstGeom prst="line">
            <a:avLst/>
          </a:prstGeom>
          <a:noFill/>
          <a:ln w="381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2412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INTELLIGENCE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1000" y="6032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Actors &amp; Their Tactics (TTPs)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03150" y="1352401"/>
            <a:ext cx="2108299" cy="3689598"/>
          </a:xfrm>
          <a:prstGeom prst="roundRect">
            <a:avLst>
              <a:gd name="adj" fmla="val 2410"/>
            </a:avLst>
          </a:prstGeom>
          <a:solidFill>
            <a:srgbClr val="1522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17450" y="1555403"/>
            <a:ext cx="19172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NATION-STATE APTS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17450" y="1859905"/>
            <a:ext cx="19172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800" i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Espionage, IP theft, strategic advantage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17450" y="2177207"/>
            <a:ext cx="19172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55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17450" y="2526209"/>
            <a:ext cx="1879699" cy="647402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persistent access via NHIs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system compromise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Living-off-the-land with legitimate creds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Sophisticated lateral movement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17450" y="3376613"/>
            <a:ext cx="1879699" cy="631627"/>
          </a:xfrm>
          <a:prstGeom prst="roundRect">
            <a:avLst>
              <a:gd name="adj" fmla="val 4021"/>
            </a:avLst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18951" y="3535263"/>
            <a:ext cx="17102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i="1" dirty="0">
                <a:solidFill>
                  <a:srgbClr val="55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APT29 — SolarWinds · APT41 — software vendors · Lazarus — crypto via supply chain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412950" y="1352401"/>
            <a:ext cx="2108299" cy="3689598"/>
          </a:xfrm>
          <a:prstGeom prst="roundRect">
            <a:avLst>
              <a:gd name="adj" fmla="val 2410"/>
            </a:avLst>
          </a:prstGeom>
          <a:solidFill>
            <a:srgbClr val="2A15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527250" y="1555403"/>
            <a:ext cx="19172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CYBERCRIMINAL GROUPS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27250" y="1859905"/>
            <a:ext cx="19172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800" i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gain, ransomware, cryptomining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27250" y="2177207"/>
            <a:ext cx="19172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55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527250" y="2526209"/>
            <a:ext cx="1879699" cy="647402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scanning for exposed credentials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GitHub/GitLab credential scraping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Cryptomining via stolen cloud keys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Ransomware via compromised CI/CD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27250" y="3376613"/>
            <a:ext cx="1879699" cy="631627"/>
          </a:xfrm>
          <a:prstGeom prst="roundRect">
            <a:avLst>
              <a:gd name="adj" fmla="val 4021"/>
            </a:avLst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628751" y="3535263"/>
            <a:ext cx="17102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i="1" dirty="0">
                <a:solidFill>
                  <a:srgbClr val="55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TeamTNT — cloud cred theft · Rocke — container escape · Various — CI/CD ransomware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622750" y="1352401"/>
            <a:ext cx="2108299" cy="3689598"/>
          </a:xfrm>
          <a:prstGeom prst="roundRect">
            <a:avLst>
              <a:gd name="adj" fmla="val 2410"/>
            </a:avLst>
          </a:prstGeom>
          <a:solidFill>
            <a:srgbClr val="1522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37050" y="1555403"/>
            <a:ext cx="19172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INSIDER THREATS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37050" y="1859905"/>
            <a:ext cx="19172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800" i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Revenge, financial gain, negligence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37050" y="2177207"/>
            <a:ext cx="19172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55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737050" y="2526209"/>
            <a:ext cx="1879699" cy="533102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Abuse of legitimate NHI access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Backdoor service account creation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theft before departure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Exfiltration using authorized creds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37050" y="3262313"/>
            <a:ext cx="1879699" cy="631627"/>
          </a:xfrm>
          <a:prstGeom prst="roundRect">
            <a:avLst>
              <a:gd name="adj" fmla="val 4021"/>
            </a:avLst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38551" y="3420963"/>
            <a:ext cx="17102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i="1" dirty="0">
                <a:solidFill>
                  <a:srgbClr val="55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Privileged access to CI/CD · API key gen for exfil · Shared credentials to third parties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832550" y="1352401"/>
            <a:ext cx="2108299" cy="3689598"/>
          </a:xfrm>
          <a:prstGeom prst="roundRect">
            <a:avLst>
              <a:gd name="adj" fmla="val 2410"/>
            </a:avLst>
          </a:prstGeom>
          <a:solidFill>
            <a:srgbClr val="2A15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946850" y="1555403"/>
            <a:ext cx="19172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OPPORTUNISTIC ATTACKERS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946850" y="1859905"/>
            <a:ext cx="19172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800" i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targets, credential collection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946850" y="2177207"/>
            <a:ext cx="19172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55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TACTICS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946850" y="2526209"/>
            <a:ext cx="1879699" cy="533102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 scanning for exposed secrets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public repo scanning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Hub credential mining</a:t>
            </a:r>
            <a:endParaRPr lang="en-US" sz="8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credential exploitation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946850" y="3262313"/>
            <a:ext cx="1879699" cy="631627"/>
          </a:xfrm>
          <a:prstGeom prst="roundRect">
            <a:avLst>
              <a:gd name="adj" fmla="val 4021"/>
            </a:avLst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048351" y="3420963"/>
            <a:ext cx="17102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i="1" dirty="0">
                <a:solidFill>
                  <a:srgbClr val="55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secret scanning bots · Public S3 enumeration · Shodan/Censys for exposed services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38101"/>
          </a:xfrm>
          <a:prstGeom prst="rect">
            <a:avLst/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219051"/>
            <a:ext cx="914400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2412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ATTACK VECTORS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1000" y="6032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Attack Vectors in CI/CD Pipelines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03150" y="1352401"/>
            <a:ext cx="1676400" cy="3689598"/>
          </a:xfrm>
          <a:prstGeom prst="roundRect">
            <a:avLst>
              <a:gd name="adj" fmla="val 2273"/>
            </a:avLst>
          </a:prstGeom>
          <a:solidFill>
            <a:srgbClr val="1522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03150" y="1371451"/>
            <a:ext cx="1676400" cy="0"/>
          </a:xfrm>
          <a:prstGeom prst="line">
            <a:avLst/>
          </a:prstGeom>
          <a:noFill/>
          <a:ln w="38100">
            <a:solidFill>
              <a:srgbClr val="1B6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4651" y="1657052"/>
            <a:ext cx="15028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4651" y="2190304"/>
            <a:ext cx="15028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Injection via Pull Requests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04651" y="2634704"/>
            <a:ext cx="1502866" cy="1508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 forks repo, adds malicious code to exfiltrate env vars, submits PR triggering pipeline with secret access.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04651" y="4282827"/>
            <a:ext cx="1473398" cy="670322"/>
          </a:xfrm>
          <a:prstGeom prst="roundRect">
            <a:avLst>
              <a:gd name="adj" fmla="val 3789"/>
            </a:avLst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14176" y="4282827"/>
            <a:ext cx="0" cy="670322"/>
          </a:xfrm>
          <a:prstGeom prst="line">
            <a:avLst/>
          </a:prstGeom>
          <a:noFill/>
          <a:ln w="19050">
            <a:solidFill>
              <a:srgbClr val="1B6C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7102" y="4403378"/>
            <a:ext cx="135409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B9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 PR pipeline secret access; use separate pipelines for untrusted code; review all external contributions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968401" y="1352401"/>
            <a:ext cx="1676549" cy="3689598"/>
          </a:xfrm>
          <a:prstGeom prst="roundRect">
            <a:avLst>
              <a:gd name="adj" fmla="val 2273"/>
            </a:avLst>
          </a:prstGeom>
          <a:solidFill>
            <a:srgbClr val="1522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1968401" y="1371451"/>
            <a:ext cx="1676549" cy="0"/>
          </a:xfrm>
          <a:prstGeom prst="line">
            <a:avLst/>
          </a:prstGeom>
          <a:noFill/>
          <a:ln w="38100">
            <a:solidFill>
              <a:srgbClr val="1B6C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69902" y="1657052"/>
            <a:ext cx="15030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069902" y="2190304"/>
            <a:ext cx="150301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Compromised Dependencies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069902" y="2529929"/>
            <a:ext cx="1503018" cy="1613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Malicious or hijacked package steals credentials from build environment during installation scripts.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069902" y="4282827"/>
            <a:ext cx="1473547" cy="670322"/>
          </a:xfrm>
          <a:prstGeom prst="roundRect">
            <a:avLst>
              <a:gd name="adj" fmla="val 3789"/>
            </a:avLst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2079427" y="4282827"/>
            <a:ext cx="0" cy="670322"/>
          </a:xfrm>
          <a:prstGeom prst="line">
            <a:avLst/>
          </a:prstGeom>
          <a:noFill/>
          <a:ln w="19050">
            <a:solidFill>
              <a:srgbClr val="1B6C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52352" y="4403378"/>
            <a:ext cx="1354250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B9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pinning; lock files; package signature verification; isolated build environments; SBOM monitoring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3733800" y="1352401"/>
            <a:ext cx="1676400" cy="3689598"/>
          </a:xfrm>
          <a:prstGeom prst="roundRect">
            <a:avLst>
              <a:gd name="adj" fmla="val 2273"/>
            </a:avLst>
          </a:prstGeom>
          <a:solidFill>
            <a:srgbClr val="1522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733800" y="1371451"/>
            <a:ext cx="1676400" cy="0"/>
          </a:xfrm>
          <a:prstGeom prst="line">
            <a:avLst/>
          </a:prstGeom>
          <a:noFill/>
          <a:ln w="38100">
            <a:solidFill>
              <a:srgbClr val="1B6C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35301" y="1657052"/>
            <a:ext cx="15028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835301" y="2190304"/>
            <a:ext cx="15028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Log Exposure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835301" y="2529929"/>
            <a:ext cx="1502866" cy="1720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accidentally printed during build process; logs accessible to unauthorized users or made public.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835301" y="4390132"/>
            <a:ext cx="1473398" cy="563017"/>
          </a:xfrm>
          <a:prstGeom prst="roundRect">
            <a:avLst>
              <a:gd name="adj" fmla="val 4511"/>
            </a:avLst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844826" y="4390132"/>
            <a:ext cx="0" cy="563017"/>
          </a:xfrm>
          <a:prstGeom prst="line">
            <a:avLst/>
          </a:prstGeom>
          <a:noFill/>
          <a:ln w="19050">
            <a:solidFill>
              <a:srgbClr val="1B6C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17752" y="4510683"/>
            <a:ext cx="1354098" cy="32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B9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redaction in logs; restricted log access; automated secret scanning; developer training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5499050" y="1352401"/>
            <a:ext cx="1676549" cy="3689598"/>
          </a:xfrm>
          <a:prstGeom prst="roundRect">
            <a:avLst>
              <a:gd name="adj" fmla="val 2273"/>
            </a:avLst>
          </a:prstGeom>
          <a:solidFill>
            <a:srgbClr val="1522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5499050" y="1371451"/>
            <a:ext cx="1676549" cy="0"/>
          </a:xfrm>
          <a:prstGeom prst="line">
            <a:avLst/>
          </a:prstGeom>
          <a:noFill/>
          <a:ln w="38100">
            <a:solidFill>
              <a:srgbClr val="1B6C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00551" y="1657052"/>
            <a:ext cx="15030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600551" y="2190304"/>
            <a:ext cx="150301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Compromised CI/CD Platform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600551" y="2529929"/>
            <a:ext cx="1503018" cy="1613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compromise of the CI/CD system grants access to all stored secrets and lateral movement to production.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600551" y="4282827"/>
            <a:ext cx="1473547" cy="670322"/>
          </a:xfrm>
          <a:prstGeom prst="roundRect">
            <a:avLst>
              <a:gd name="adj" fmla="val 3789"/>
            </a:avLst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5610076" y="4282827"/>
            <a:ext cx="0" cy="670322"/>
          </a:xfrm>
          <a:prstGeom prst="line">
            <a:avLst/>
          </a:prstGeom>
          <a:noFill/>
          <a:ln w="19050">
            <a:solidFill>
              <a:srgbClr val="1B6C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83002" y="4403378"/>
            <a:ext cx="1354250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B9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 CI/CD infra; external secrets management; least privilege; network segmentation; regular audits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7264450" y="1352401"/>
            <a:ext cx="1676400" cy="3689598"/>
          </a:xfrm>
          <a:prstGeom prst="roundRect">
            <a:avLst>
              <a:gd name="adj" fmla="val 2273"/>
            </a:avLst>
          </a:prstGeom>
          <a:solidFill>
            <a:srgbClr val="1522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7264450" y="1371451"/>
            <a:ext cx="1676400" cy="0"/>
          </a:xfrm>
          <a:prstGeom prst="line">
            <a:avLst/>
          </a:prstGeom>
          <a:noFill/>
          <a:ln w="38100">
            <a:solidFill>
              <a:srgbClr val="1B6C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65950" y="1657052"/>
            <a:ext cx="15028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365950" y="2190304"/>
            <a:ext cx="15028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Malicious 3rd-Party Actions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365950" y="2529929"/>
            <a:ext cx="1502866" cy="1613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Compromised GitHub Actions or Jenkins plugins with excessive permissions exfiltrate credentials at runtime.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365950" y="4282827"/>
            <a:ext cx="1473398" cy="670322"/>
          </a:xfrm>
          <a:prstGeom prst="roundRect">
            <a:avLst>
              <a:gd name="adj" fmla="val 3789"/>
            </a:avLst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7375475" y="4282827"/>
            <a:ext cx="0" cy="670322"/>
          </a:xfrm>
          <a:prstGeom prst="line">
            <a:avLst/>
          </a:prstGeom>
          <a:noFill/>
          <a:ln w="19050">
            <a:solidFill>
              <a:srgbClr val="1B6CA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48401" y="4403378"/>
            <a:ext cx="135409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B9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 all actions/plugins; minimal permissions; pin to specific versions; prefer official/verified actions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38101"/>
          </a:xfrm>
          <a:prstGeom prst="rect">
            <a:avLst/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219051"/>
            <a:ext cx="9144000" cy="0"/>
          </a:xfrm>
          <a:prstGeom prst="line">
            <a:avLst/>
          </a:prstGeom>
          <a:noFill/>
          <a:ln w="381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2412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EXPOSURE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1000" y="6032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Sprawl &amp; Exposure Patterns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03150" y="1352401"/>
            <a:ext cx="2844850" cy="1800374"/>
          </a:xfrm>
          <a:prstGeom prst="roundRect">
            <a:avLst>
              <a:gd name="adj" fmla="val 2116"/>
            </a:avLst>
          </a:prstGeom>
          <a:solidFill>
            <a:srgbClr val="1522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22200" y="1352401"/>
            <a:ext cx="0" cy="1800374"/>
          </a:xfrm>
          <a:prstGeom prst="line">
            <a:avLst/>
          </a:prstGeom>
          <a:noFill/>
          <a:ln w="38100">
            <a:solidFill>
              <a:srgbClr val="1B6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5550" y="1542752"/>
            <a:ext cx="2629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History Exposure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55550" y="1885504"/>
            <a:ext cx="2629713" cy="619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committed to .env files, config, test files, or IaC templates remain in git history even after deletion.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55550" y="2632323"/>
            <a:ext cx="2578150" cy="431602"/>
          </a:xfrm>
          <a:prstGeom prst="roundRect">
            <a:avLst>
              <a:gd name="adj" fmla="val 5885"/>
            </a:avLst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31750" y="2752874"/>
            <a:ext cx="24742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B9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GitLeaks, TruffleHog, git-secrets, pre-commit hooks, GitHub Secret Scanning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203150" y="3241625"/>
            <a:ext cx="2844850" cy="1800374"/>
          </a:xfrm>
          <a:prstGeom prst="roundRect">
            <a:avLst>
              <a:gd name="adj" fmla="val 2116"/>
            </a:avLst>
          </a:prstGeom>
          <a:solidFill>
            <a:srgbClr val="2A15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22200" y="3241625"/>
            <a:ext cx="0" cy="1800374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5550" y="3431977"/>
            <a:ext cx="2629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Image Secrets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55550" y="3774728"/>
            <a:ext cx="2629713" cy="619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 embedded in container images via ENV vars in Dockerfile, copied config files, or unremediated build-time secrets in image layers.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55550" y="4521547"/>
            <a:ext cx="2578150" cy="431602"/>
          </a:xfrm>
          <a:prstGeom prst="roundRect">
            <a:avLst>
              <a:gd name="adj" fmla="val 5885"/>
            </a:avLst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31750" y="4642098"/>
            <a:ext cx="24742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B9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Trivy, Grype, Clair — layer-by-layer analysis; registry scanning; admission controllers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3149501" y="1352401"/>
            <a:ext cx="2844998" cy="1800374"/>
          </a:xfrm>
          <a:prstGeom prst="roundRect">
            <a:avLst>
              <a:gd name="adj" fmla="val 2116"/>
            </a:avLst>
          </a:prstGeom>
          <a:solidFill>
            <a:srgbClr val="2A15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168551" y="1352401"/>
            <a:ext cx="0" cy="1800374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01901" y="1542752"/>
            <a:ext cx="26298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Metadata SSRF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01901" y="1885504"/>
            <a:ext cx="2629864" cy="619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SSRF vulnerabilities in web apps used to query AWS IMDS, Azure IMDS, or GCP Metadata Server for short-lived IAM credentials.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301901" y="2632323"/>
            <a:ext cx="2578298" cy="431602"/>
          </a:xfrm>
          <a:prstGeom prst="roundRect">
            <a:avLst>
              <a:gd name="adj" fmla="val 5885"/>
            </a:avLst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378101" y="2752874"/>
            <a:ext cx="24744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B9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Mitigate: IMDSv2 (session-based), network policies, least-privilege IAM roles, app-level SSRF protection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3149501" y="3241625"/>
            <a:ext cx="2844998" cy="1800374"/>
          </a:xfrm>
          <a:prstGeom prst="roundRect">
            <a:avLst>
              <a:gd name="adj" fmla="val 2116"/>
            </a:avLst>
          </a:prstGeom>
          <a:solidFill>
            <a:srgbClr val="1522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168551" y="3241625"/>
            <a:ext cx="0" cy="1800374"/>
          </a:xfrm>
          <a:prstGeom prst="line">
            <a:avLst/>
          </a:prstGeom>
          <a:noFill/>
          <a:ln w="38100">
            <a:solidFill>
              <a:srgbClr val="1B6C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01901" y="3431977"/>
            <a:ext cx="26298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File Exposure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01901" y="3774728"/>
            <a:ext cx="2629864" cy="619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in config.yaml, settings.json, .env files in production, or database connection strings accessible to unauthorized parties.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301901" y="4521547"/>
            <a:ext cx="2578298" cy="431602"/>
          </a:xfrm>
          <a:prstGeom prst="roundRect">
            <a:avLst>
              <a:gd name="adj" fmla="val 5885"/>
            </a:avLst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378101" y="4642098"/>
            <a:ext cx="24744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B9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Remediation: Secrets management systems (Vault, AWS SM), encrypted configs, access control enforcement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6096000" y="1352401"/>
            <a:ext cx="2844850" cy="1800374"/>
          </a:xfrm>
          <a:prstGeom prst="roundRect">
            <a:avLst>
              <a:gd name="adj" fmla="val 2116"/>
            </a:avLst>
          </a:prstGeom>
          <a:solidFill>
            <a:srgbClr val="1522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6115050" y="1352401"/>
            <a:ext cx="0" cy="1800374"/>
          </a:xfrm>
          <a:prstGeom prst="line">
            <a:avLst/>
          </a:prstGeom>
          <a:noFill/>
          <a:ln w="38100">
            <a:solidFill>
              <a:srgbClr val="1B6C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48400" y="1542752"/>
            <a:ext cx="2629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File Leakage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248400" y="1885504"/>
            <a:ext cx="2629713" cy="619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keys, tokens, and connection strings inadvertently logged to app logs, web server logs, or error messages — then accessible via log aggregation platforms.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248400" y="2632323"/>
            <a:ext cx="2578150" cy="431602"/>
          </a:xfrm>
          <a:prstGeom prst="roundRect">
            <a:avLst>
              <a:gd name="adj" fmla="val 5885"/>
            </a:avLst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324600" y="2752874"/>
            <a:ext cx="24742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B9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Remediation: Log sanitization, secret redaction, structured logging patterns, developer guidelines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6096000" y="3241625"/>
            <a:ext cx="2844850" cy="1800374"/>
          </a:xfrm>
          <a:prstGeom prst="roundRect">
            <a:avLst>
              <a:gd name="adj" fmla="val 2116"/>
            </a:avLst>
          </a:prstGeom>
          <a:solidFill>
            <a:srgbClr val="2A15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6115050" y="3241625"/>
            <a:ext cx="0" cy="1800374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48400" y="3431977"/>
            <a:ext cx="2629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Registry Credential Sprawl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48400" y="3774728"/>
            <a:ext cx="2629713" cy="619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registry tokens (npm, PyPI, Maven) stored in multiple places — CI configs, developer machines, shared secrets — without rotation policies.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248400" y="4521547"/>
            <a:ext cx="2578150" cy="431602"/>
          </a:xfrm>
          <a:prstGeom prst="roundRect">
            <a:avLst>
              <a:gd name="adj" fmla="val 5885"/>
            </a:avLst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324600" y="4642098"/>
            <a:ext cx="24742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B9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Remediation: Centralized secrets management, short-lived tokens, SBOM signing and verification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38101"/>
          </a:xfrm>
          <a:prstGeom prst="rect">
            <a:avLst/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219051"/>
            <a:ext cx="9144000" cy="0"/>
          </a:xfrm>
          <a:prstGeom prst="line">
            <a:avLst/>
          </a:prstGeom>
          <a:noFill/>
          <a:ln w="381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2412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&amp; STANDARDS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1000" y="6032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Frameworks, Tools &amp; Standards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" y="1447651"/>
            <a:ext cx="435254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 &amp; STANDARDS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28600" y="1666577"/>
            <a:ext cx="4267200" cy="1295102"/>
          </a:xfrm>
          <a:prstGeom prst="roundRect">
            <a:avLst>
              <a:gd name="adj" fmla="val 2942"/>
            </a:avLst>
          </a:prstGeom>
          <a:solidFill>
            <a:srgbClr val="1522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52413" y="1666577"/>
            <a:ext cx="0" cy="1295102"/>
          </a:xfrm>
          <a:prstGeom prst="line">
            <a:avLst/>
          </a:prstGeom>
          <a:noFill/>
          <a:ln w="47625">
            <a:solidFill>
              <a:srgbClr val="1B6C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3175" y="1856929"/>
            <a:ext cx="3965674" cy="9144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SLSA</a:t>
            </a:r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Supply-chain Levels for Software Artifacts: provenance and build integrity assurance</a:t>
            </a:r>
            <a:endParaRPr lang="en-US" sz="8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CSF</a:t>
            </a:r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Cybersecurity Framework: identify, protect, detect, respond, recover</a:t>
            </a:r>
            <a:endParaRPr lang="en-US" sz="8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 Controls</a:t>
            </a:r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Prioritized security controls including identity and access management</a:t>
            </a:r>
            <a:endParaRPr lang="en-US" sz="8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CI/CD Top 10</a:t>
            </a:r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Specific risks: insufficient flow control, inadequate identity controls, insecure third-party code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48200" y="1447651"/>
            <a:ext cx="435254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SECURITY TOOLS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48200" y="1666577"/>
            <a:ext cx="4267200" cy="697706"/>
          </a:xfrm>
          <a:prstGeom prst="roundRect">
            <a:avLst>
              <a:gd name="adj" fmla="val 5461"/>
            </a:avLst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62500" y="1838027"/>
            <a:ext cx="411937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SCANNING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762500" y="2044303"/>
            <a:ext cx="411937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GitLeaks, TruffleHog, git-secrets, GitHub Secret Scanning, Gitleaks Action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48200" y="2453134"/>
            <a:ext cx="4267200" cy="697706"/>
          </a:xfrm>
          <a:prstGeom prst="roundRect">
            <a:avLst>
              <a:gd name="adj" fmla="val 5461"/>
            </a:avLst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62500" y="2624584"/>
            <a:ext cx="411937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MANAGEMENT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762500" y="2830860"/>
            <a:ext cx="411937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HashiCorp Vault, AWS Secrets Manager, Azure Key Vault, GCP Secret Manager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48200" y="3239691"/>
            <a:ext cx="4267200" cy="697706"/>
          </a:xfrm>
          <a:prstGeom prst="roundRect">
            <a:avLst>
              <a:gd name="adj" fmla="val 5461"/>
            </a:avLst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62500" y="3411141"/>
            <a:ext cx="411937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SECURITY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762500" y="3617416"/>
            <a:ext cx="411937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Trivy, Grype, Clair, Anchore Engine — image scanning and vulnerability detection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48200" y="4026247"/>
            <a:ext cx="4267200" cy="697706"/>
          </a:xfrm>
          <a:prstGeom prst="roundRect">
            <a:avLst>
              <a:gd name="adj" fmla="val 5461"/>
            </a:avLst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62500" y="4197697"/>
            <a:ext cx="411937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SBOM &amp; BUILD ATTESTATION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762500" y="4403973"/>
            <a:ext cx="411937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Syft, CycloneDX, SPDX for SBOM · in-toto, Sigstore, SLSA for provenance &amp; signing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38101"/>
          </a:xfrm>
          <a:prstGeom prst="rect">
            <a:avLst/>
          </a:prstGeom>
          <a:solidFill>
            <a:srgbClr val="1B2A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219051"/>
            <a:ext cx="9144000" cy="0"/>
          </a:xfrm>
          <a:prstGeom prst="line">
            <a:avLst/>
          </a:prstGeom>
          <a:noFill/>
          <a:ln w="381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2412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1000" y="6032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 &amp; Recommendations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" y="1447651"/>
            <a:ext cx="435254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28600" y="1831628"/>
            <a:ext cx="28493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4150" y="1755428"/>
            <a:ext cx="39898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All NHIs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84150" y="1971229"/>
            <a:ext cx="398988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spcBef>
                <a:spcPts val="20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every service account, API token, and machine credential across all pipeline stages.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28600" y="2472779"/>
            <a:ext cx="28493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4150" y="2396579"/>
            <a:ext cx="39898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Least Privilege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84150" y="2612380"/>
            <a:ext cx="398988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spcBef>
                <a:spcPts val="20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all NHI credentials to minimum required permissions; eliminate standing over-privileged accounts.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28600" y="3218706"/>
            <a:ext cx="28493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4150" y="3142506"/>
            <a:ext cx="39898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Secret Scanning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4150" y="3358307"/>
            <a:ext cx="398988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spcBef>
                <a:spcPts val="20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pre-commit hooks + CI/CD scanning for secrets across all repositories and pipelines.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28600" y="3964632"/>
            <a:ext cx="28493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4150" y="3888432"/>
            <a:ext cx="39898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Short-Lived Credentials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4150" y="4104233"/>
            <a:ext cx="398988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spcBef>
                <a:spcPts val="20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long-lived static credentials with OIDC-based, ephemeral tokens wherever possible.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648200" y="1447651"/>
            <a:ext cx="435254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INITIATIVES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648200" y="1831628"/>
            <a:ext cx="28493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03750" y="1755428"/>
            <a:ext cx="39898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 SLSA Framework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03750" y="1971229"/>
            <a:ext cx="398988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spcBef>
                <a:spcPts val="20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build provenance, attestation, and verification for all software artifacts.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648200" y="2472779"/>
            <a:ext cx="28493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03750" y="2396579"/>
            <a:ext cx="39898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 Secrets Management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03750" y="2612380"/>
            <a:ext cx="398988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spcBef>
                <a:spcPts val="20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HashiCorp Vault or cloud-native secrets managers; eliminate secrets in config files and env vars.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648200" y="3218706"/>
            <a:ext cx="28493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03750" y="3142506"/>
            <a:ext cx="39898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NHI Behavior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03750" y="3358307"/>
            <a:ext cx="398988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spcBef>
                <a:spcPts val="20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anomaly detection on NHI usage patterns — unusual access times, volumes, or destinations.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648200" y="3964632"/>
            <a:ext cx="28493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03750" y="3888432"/>
            <a:ext cx="39898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&amp; Monitor SBOMs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03750" y="4104233"/>
            <a:ext cx="398988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spcBef>
                <a:spcPts val="20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Syft/CycloneDX for every release; continuously monitor dependencies for compromise signals.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0" y="4676775"/>
            <a:ext cx="9144000" cy="466725"/>
          </a:xfrm>
          <a:prstGeom prst="rect">
            <a:avLst/>
          </a:prstGeom>
          <a:solidFill>
            <a:srgbClr val="1522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0" y="4686300"/>
            <a:ext cx="9144000" cy="0"/>
          </a:xfrm>
          <a:prstGeom prst="line">
            <a:avLst/>
          </a:prstGeom>
          <a:noFill/>
          <a:ln w="19050">
            <a:solidFill>
              <a:srgbClr val="1B6C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4867275"/>
            <a:ext cx="65729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Further Reading:</a:t>
            </a:r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55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"Securing the Software Supply Chain" — CISA · "SLSA Framework" — OpenSSF · "Non-Human Identity Security Report" — CyberArk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NHI Security Threats in Software Supply Chains</dc:title>
  <dc:subject>Non-Human Identity Supply Chain Security</dc:subject>
  <dc:creator>Security Intelligence</dc:creator>
  <cp:lastModifiedBy>Security Intelligence</cp:lastModifiedBy>
  <cp:revision>1</cp:revision>
  <dcterms:created xsi:type="dcterms:W3CDTF">2026-10-23T11:29:38Z</dcterms:created>
  <dcterms:modified xsi:type="dcterms:W3CDTF">2026-10-23T11:29:38Z</dcterms:modified>
</cp:coreProperties>
</file>